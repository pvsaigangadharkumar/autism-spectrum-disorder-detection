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71" r:id="rId3"/>
    <p:sldId id="259" r:id="rId4"/>
    <p:sldId id="260" r:id="rId5"/>
    <p:sldId id="272" r:id="rId6"/>
    <p:sldId id="266" r:id="rId7"/>
    <p:sldId id="275" r:id="rId8"/>
    <p:sldId id="267" r:id="rId9"/>
    <p:sldId id="273" r:id="rId10"/>
    <p:sldId id="262" r:id="rId11"/>
    <p:sldId id="263" r:id="rId12"/>
    <p:sldId id="274"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5196" autoAdjust="0"/>
  </p:normalViewPr>
  <p:slideViewPr>
    <p:cSldViewPr snapToGrid="0">
      <p:cViewPr varScale="1">
        <p:scale>
          <a:sx n="85" d="100"/>
          <a:sy n="85" d="100"/>
        </p:scale>
        <p:origin x="5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B5583-4527-4A7B-85A4-B078A84DB2A4}" type="datetimeFigureOut">
              <a:rPr lang="en-IN" smtClean="0"/>
              <a:t>04-11-2023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16466B-84BC-4879-B76E-9107F03259C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969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4B5583-4527-4A7B-85A4-B078A84DB2A4}" type="datetimeFigureOut">
              <a:rPr lang="en-IN" smtClean="0"/>
              <a:t>04-11-2023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16466B-84BC-4879-B76E-9107F03259CC}" type="slidenum">
              <a:rPr lang="en-IN" smtClean="0"/>
              <a:t>‹#›</a:t>
            </a:fld>
            <a:endParaRPr lang="en-IN"/>
          </a:p>
        </p:txBody>
      </p:sp>
    </p:spTree>
    <p:extLst>
      <p:ext uri="{BB962C8B-B14F-4D97-AF65-F5344CB8AC3E}">
        <p14:creationId xmlns:p14="http://schemas.microsoft.com/office/powerpoint/2010/main" val="1614565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4B5583-4527-4A7B-85A4-B078A84DB2A4}" type="datetimeFigureOut">
              <a:rPr lang="en-IN" smtClean="0"/>
              <a:t>04-11-2023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16466B-84BC-4879-B76E-9107F03259C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964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4B5583-4527-4A7B-85A4-B078A84DB2A4}" type="datetimeFigureOut">
              <a:rPr lang="en-IN" smtClean="0"/>
              <a:t>04-11-2023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16466B-84BC-4879-B76E-9107F03259CC}" type="slidenum">
              <a:rPr lang="en-IN" smtClean="0"/>
              <a:t>‹#›</a:t>
            </a:fld>
            <a:endParaRPr lang="en-IN"/>
          </a:p>
        </p:txBody>
      </p:sp>
    </p:spTree>
    <p:extLst>
      <p:ext uri="{BB962C8B-B14F-4D97-AF65-F5344CB8AC3E}">
        <p14:creationId xmlns:p14="http://schemas.microsoft.com/office/powerpoint/2010/main" val="176189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4B5583-4527-4A7B-85A4-B078A84DB2A4}" type="datetimeFigureOut">
              <a:rPr lang="en-IN" smtClean="0"/>
              <a:t>04-11-2023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16466B-84BC-4879-B76E-9107F03259CC}" type="slidenum">
              <a:rPr lang="en-IN" smtClean="0"/>
              <a:t>‹#›</a:t>
            </a:fld>
            <a:endParaRPr lang="en-IN"/>
          </a:p>
        </p:txBody>
      </p:sp>
    </p:spTree>
    <p:extLst>
      <p:ext uri="{BB962C8B-B14F-4D97-AF65-F5344CB8AC3E}">
        <p14:creationId xmlns:p14="http://schemas.microsoft.com/office/powerpoint/2010/main" val="378216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4B5583-4527-4A7B-85A4-B078A84DB2A4}" type="datetimeFigureOut">
              <a:rPr lang="en-IN" smtClean="0"/>
              <a:t>04-11-2023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16466B-84BC-4879-B76E-9107F03259CC}" type="slidenum">
              <a:rPr lang="en-IN" smtClean="0"/>
              <a:t>‹#›</a:t>
            </a:fld>
            <a:endParaRPr lang="en-IN"/>
          </a:p>
        </p:txBody>
      </p:sp>
    </p:spTree>
    <p:extLst>
      <p:ext uri="{BB962C8B-B14F-4D97-AF65-F5344CB8AC3E}">
        <p14:creationId xmlns:p14="http://schemas.microsoft.com/office/powerpoint/2010/main" val="419097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74B5583-4527-4A7B-85A4-B078A84DB2A4}" type="datetimeFigureOut">
              <a:rPr lang="en-IN" smtClean="0"/>
              <a:t>04-11-2023</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9516466B-84BC-4879-B76E-9107F03259CC}" type="slidenum">
              <a:rPr lang="en-IN" smtClean="0"/>
              <a:t>‹#›</a:t>
            </a:fld>
            <a:endParaRPr lang="en-IN"/>
          </a:p>
        </p:txBody>
      </p:sp>
    </p:spTree>
    <p:extLst>
      <p:ext uri="{BB962C8B-B14F-4D97-AF65-F5344CB8AC3E}">
        <p14:creationId xmlns:p14="http://schemas.microsoft.com/office/powerpoint/2010/main" val="184859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74B5583-4527-4A7B-85A4-B078A84DB2A4}" type="datetimeFigureOut">
              <a:rPr lang="en-IN" smtClean="0"/>
              <a:t>04-11-2023</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516466B-84BC-4879-B76E-9107F03259CC}" type="slidenum">
              <a:rPr lang="en-IN" smtClean="0"/>
              <a:t>‹#›</a:t>
            </a:fld>
            <a:endParaRPr lang="en-IN"/>
          </a:p>
        </p:txBody>
      </p:sp>
    </p:spTree>
    <p:extLst>
      <p:ext uri="{BB962C8B-B14F-4D97-AF65-F5344CB8AC3E}">
        <p14:creationId xmlns:p14="http://schemas.microsoft.com/office/powerpoint/2010/main" val="2024674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4B5583-4527-4A7B-85A4-B078A84DB2A4}" type="datetimeFigureOut">
              <a:rPr lang="en-IN" smtClean="0"/>
              <a:t>04-11-2023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16466B-84BC-4879-B76E-9107F03259CC}" type="slidenum">
              <a:rPr lang="en-IN" smtClean="0"/>
              <a:t>‹#›</a:t>
            </a:fld>
            <a:endParaRPr lang="en-IN"/>
          </a:p>
        </p:txBody>
      </p:sp>
    </p:spTree>
    <p:extLst>
      <p:ext uri="{BB962C8B-B14F-4D97-AF65-F5344CB8AC3E}">
        <p14:creationId xmlns:p14="http://schemas.microsoft.com/office/powerpoint/2010/main" val="687667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4B5583-4527-4A7B-85A4-B078A84DB2A4}" type="datetimeFigureOut">
              <a:rPr lang="en-IN" smtClean="0"/>
              <a:t>04-11-2023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16466B-84BC-4879-B76E-9107F03259CC}" type="slidenum">
              <a:rPr lang="en-IN" smtClean="0"/>
              <a:t>‹#›</a:t>
            </a:fld>
            <a:endParaRPr lang="en-IN"/>
          </a:p>
        </p:txBody>
      </p:sp>
    </p:spTree>
    <p:extLst>
      <p:ext uri="{BB962C8B-B14F-4D97-AF65-F5344CB8AC3E}">
        <p14:creationId xmlns:p14="http://schemas.microsoft.com/office/powerpoint/2010/main" val="437182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4B5583-4527-4A7B-85A4-B078A84DB2A4}" type="datetimeFigureOut">
              <a:rPr lang="en-IN" smtClean="0"/>
              <a:t>04-11-2023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16466B-84BC-4879-B76E-9107F03259CC}" type="slidenum">
              <a:rPr lang="en-IN" smtClean="0"/>
              <a:t>‹#›</a:t>
            </a:fld>
            <a:endParaRPr lang="en-IN"/>
          </a:p>
        </p:txBody>
      </p:sp>
    </p:spTree>
    <p:extLst>
      <p:ext uri="{BB962C8B-B14F-4D97-AF65-F5344CB8AC3E}">
        <p14:creationId xmlns:p14="http://schemas.microsoft.com/office/powerpoint/2010/main" val="3082887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74B5583-4527-4A7B-85A4-B078A84DB2A4}" type="datetimeFigureOut">
              <a:rPr lang="en-IN" smtClean="0"/>
              <a:t>04-11-2023</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516466B-84BC-4879-B76E-9107F03259C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9679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71B74-D135-FE2F-B3E9-367141FEC442}"/>
              </a:ext>
            </a:extLst>
          </p:cNvPr>
          <p:cNvSpPr txBox="1"/>
          <p:nvPr/>
        </p:nvSpPr>
        <p:spPr>
          <a:xfrm>
            <a:off x="3995397" y="326778"/>
            <a:ext cx="7493475" cy="954107"/>
          </a:xfrm>
          <a:prstGeom prst="rect">
            <a:avLst/>
          </a:prstGeom>
          <a:noFill/>
        </p:spPr>
        <p:txBody>
          <a:bodyPr wrap="square">
            <a:spAutoFit/>
          </a:bodyPr>
          <a:lstStyle/>
          <a:p>
            <a:pPr algn="ctr">
              <a:lnSpc>
                <a:spcPct val="100000"/>
              </a:lnSpc>
            </a:pPr>
            <a:r>
              <a:rPr lang="en-US" sz="2800" b="1" dirty="0">
                <a:solidFill>
                  <a:srgbClr val="C00000"/>
                </a:solidFill>
                <a:latin typeface="NimbusSanL-Regu"/>
              </a:rPr>
              <a:t>Screening Autism Spectrum Disorder in Children on Facial Images</a:t>
            </a:r>
            <a:endParaRPr lang="en-IN" sz="53800" b="1" dirty="0">
              <a:solidFill>
                <a:srgbClr val="C00000"/>
              </a:solidFill>
            </a:endParaRPr>
          </a:p>
        </p:txBody>
      </p:sp>
    </p:spTree>
    <p:extLst>
      <p:ext uri="{BB962C8B-B14F-4D97-AF65-F5344CB8AC3E}">
        <p14:creationId xmlns:p14="http://schemas.microsoft.com/office/powerpoint/2010/main" val="4107402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5A1B1-2E95-04CE-C17A-A877BA823A39}"/>
              </a:ext>
            </a:extLst>
          </p:cNvPr>
          <p:cNvSpPr txBox="1">
            <a:spLocks/>
          </p:cNvSpPr>
          <p:nvPr/>
        </p:nvSpPr>
        <p:spPr>
          <a:xfrm>
            <a:off x="2970424" y="512759"/>
            <a:ext cx="6251151" cy="74845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4000" u="sng" dirty="0">
                <a:latin typeface="HP Simplified" panose="020B0604020204020204" pitchFamily="34" charset="0"/>
              </a:rPr>
              <a:t>Abstract</a:t>
            </a:r>
          </a:p>
        </p:txBody>
      </p:sp>
      <p:sp>
        <p:nvSpPr>
          <p:cNvPr id="4" name="TextBox 3">
            <a:extLst>
              <a:ext uri="{FF2B5EF4-FFF2-40B4-BE49-F238E27FC236}">
                <a16:creationId xmlns:a16="http://schemas.microsoft.com/office/drawing/2014/main" id="{64AB98ED-E410-69D3-AA60-EAFC4C34C076}"/>
              </a:ext>
            </a:extLst>
          </p:cNvPr>
          <p:cNvSpPr txBox="1"/>
          <p:nvPr/>
        </p:nvSpPr>
        <p:spPr>
          <a:xfrm>
            <a:off x="656733" y="1275038"/>
            <a:ext cx="6111712" cy="5078313"/>
          </a:xfrm>
          <a:prstGeom prst="rect">
            <a:avLst/>
          </a:prstGeom>
          <a:noFill/>
        </p:spPr>
        <p:txBody>
          <a:bodyPr wrap="square">
            <a:spAutoFit/>
          </a:bodyPr>
          <a:lstStyle/>
          <a:p>
            <a:pPr marL="285750" indent="-285750" algn="just">
              <a:buFont typeface="Arial" panose="020B0604020202020204" pitchFamily="34" charset="0"/>
              <a:buChar char="•"/>
            </a:pPr>
            <a:r>
              <a:rPr lang="en-US" sz="1800" b="0" i="0" u="none" strike="noStrike" baseline="0" dirty="0">
                <a:latin typeface="CMR12"/>
              </a:rPr>
              <a:t>Autism Spectrum Disorder(ASD) is a neurodevelopmental disease which has an effect on how individuals connect with others, communicate, grasp.</a:t>
            </a:r>
          </a:p>
          <a:p>
            <a:pPr marL="285750" indent="-285750" algn="just">
              <a:buFont typeface="Arial" panose="020B0604020202020204" pitchFamily="34" charset="0"/>
              <a:buChar char="•"/>
            </a:pPr>
            <a:endParaRPr lang="en-IN" b="1" dirty="0"/>
          </a:p>
          <a:p>
            <a:pPr marL="285750" indent="-285750" algn="just">
              <a:buFont typeface="Arial" panose="020B0604020202020204" pitchFamily="34" charset="0"/>
              <a:buChar char="•"/>
            </a:pPr>
            <a:r>
              <a:rPr lang="en-IN" b="1" dirty="0"/>
              <a:t>Autism</a:t>
            </a:r>
            <a:r>
              <a:rPr lang="en-IN" dirty="0"/>
              <a:t> is disorder where people face problems with</a:t>
            </a:r>
          </a:p>
          <a:p>
            <a:pPr marL="742950" lvl="1" indent="-285750" algn="just">
              <a:buFont typeface="Arial" panose="020B0604020202020204" pitchFamily="34" charset="0"/>
              <a:buChar char="•"/>
            </a:pPr>
            <a:r>
              <a:rPr lang="en-IN" dirty="0"/>
              <a:t>Lack of social communication</a:t>
            </a:r>
          </a:p>
          <a:p>
            <a:pPr marL="742950" lvl="1" indent="-285750" algn="just">
              <a:buFont typeface="Arial" panose="020B0604020202020204" pitchFamily="34" charset="0"/>
              <a:buChar char="•"/>
            </a:pPr>
            <a:r>
              <a:rPr lang="en-IN" dirty="0"/>
              <a:t>Shows repetitive interest or behaviour</a:t>
            </a:r>
          </a:p>
          <a:p>
            <a:pPr marL="742950" lvl="1" indent="-285750" algn="just">
              <a:buFont typeface="Arial" panose="020B0604020202020204" pitchFamily="34" charset="0"/>
              <a:buChar char="•"/>
            </a:pPr>
            <a:r>
              <a:rPr lang="en-IN" dirty="0"/>
              <a:t>Cannot socialize with people.</a:t>
            </a:r>
          </a:p>
          <a:p>
            <a:pPr marL="742950" lvl="1"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Traditional neural networks have shown promising results in screening ASD.</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In this study we have used </a:t>
            </a:r>
            <a:r>
              <a:rPr lang="en-IN" b="1" dirty="0"/>
              <a:t>Feature Pyramid Network(FPN) </a:t>
            </a:r>
            <a:r>
              <a:rPr lang="en-IN" dirty="0"/>
              <a:t>to improve the performance of various deep learning models like CNN, VGG16. </a:t>
            </a:r>
          </a:p>
          <a:p>
            <a:pPr marL="285750" indent="-285750" algn="just">
              <a:buFont typeface="Arial" panose="020B0604020202020204" pitchFamily="34" charset="0"/>
              <a:buChar char="•"/>
            </a:pPr>
            <a:endParaRPr lang="en-IN" sz="1800" b="0" i="0" u="none" strike="noStrike" baseline="0" dirty="0">
              <a:latin typeface="CMR12"/>
            </a:endParaRPr>
          </a:p>
          <a:p>
            <a:pPr marL="285750" indent="-285750" algn="just">
              <a:buFont typeface="Arial" panose="020B0604020202020204" pitchFamily="34" charset="0"/>
              <a:buChar char="•"/>
            </a:pPr>
            <a:r>
              <a:rPr lang="en-IN" dirty="0">
                <a:latin typeface="CMR12"/>
              </a:rPr>
              <a:t>Amongst all, t</a:t>
            </a:r>
            <a:r>
              <a:rPr lang="en-IN" sz="1800" b="0" i="0" u="none" strike="noStrike" baseline="0" dirty="0">
                <a:latin typeface="CMR12"/>
              </a:rPr>
              <a:t>he VGG16+FPN model </a:t>
            </a:r>
            <a:r>
              <a:rPr lang="en-US" sz="1800" b="0" i="0" u="none" strike="noStrike" baseline="0" dirty="0">
                <a:latin typeface="CMR12"/>
              </a:rPr>
              <a:t>achieved a highest accuracy of 92%.</a:t>
            </a:r>
            <a:endParaRPr lang="en-IN" dirty="0"/>
          </a:p>
        </p:txBody>
      </p:sp>
      <p:pic>
        <p:nvPicPr>
          <p:cNvPr id="3" name="Picture 2" descr="Autism Spectrum Disorder: A Guide for Parents | CEUfast.com Blog">
            <a:extLst>
              <a:ext uri="{FF2B5EF4-FFF2-40B4-BE49-F238E27FC236}">
                <a16:creationId xmlns:a16="http://schemas.microsoft.com/office/drawing/2014/main" id="{66D177A5-273C-1BAB-7A98-43BB6A3166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07" r="5284"/>
          <a:stretch/>
        </p:blipFill>
        <p:spPr bwMode="auto">
          <a:xfrm>
            <a:off x="6862713" y="2130458"/>
            <a:ext cx="4751110" cy="3012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5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2FBC-0796-06E6-E487-DF28E735390B}"/>
              </a:ext>
            </a:extLst>
          </p:cNvPr>
          <p:cNvSpPr txBox="1">
            <a:spLocks/>
          </p:cNvSpPr>
          <p:nvPr/>
        </p:nvSpPr>
        <p:spPr>
          <a:xfrm>
            <a:off x="1209040" y="473244"/>
            <a:ext cx="10058400" cy="74845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4000" u="sng" dirty="0">
                <a:latin typeface="HP Simplified" panose="020B0604020204020204" pitchFamily="34" charset="0"/>
              </a:rPr>
              <a:t>Introduction</a:t>
            </a:r>
          </a:p>
        </p:txBody>
      </p:sp>
      <p:sp>
        <p:nvSpPr>
          <p:cNvPr id="4" name="TextBox 3">
            <a:extLst>
              <a:ext uri="{FF2B5EF4-FFF2-40B4-BE49-F238E27FC236}">
                <a16:creationId xmlns:a16="http://schemas.microsoft.com/office/drawing/2014/main" id="{FFCF331A-B109-3846-B883-07BFF4900DAD}"/>
              </a:ext>
            </a:extLst>
          </p:cNvPr>
          <p:cNvSpPr txBox="1"/>
          <p:nvPr/>
        </p:nvSpPr>
        <p:spPr>
          <a:xfrm>
            <a:off x="699415" y="1232901"/>
            <a:ext cx="6472731" cy="4801314"/>
          </a:xfrm>
          <a:prstGeom prst="rect">
            <a:avLst/>
          </a:prstGeom>
          <a:noFill/>
        </p:spPr>
        <p:txBody>
          <a:bodyPr wrap="square">
            <a:spAutoFit/>
          </a:bodyPr>
          <a:lstStyle/>
          <a:p>
            <a:pPr marL="285750" indent="-285750" algn="just">
              <a:buFont typeface="Arial" panose="020B0604020202020204" pitchFamily="34" charset="0"/>
              <a:buChar char="•"/>
            </a:pPr>
            <a:r>
              <a:rPr lang="en-IN" dirty="0"/>
              <a:t>The first Autism Spectrum Disorder case was recorded in 1933.</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The Initial step  -- talking to parents which help in finding their behaviour.</a:t>
            </a:r>
          </a:p>
          <a:p>
            <a:pPr marL="285750" indent="-285750" algn="just">
              <a:buFont typeface="Arial" panose="020B0604020202020204" pitchFamily="34" charset="0"/>
              <a:buChar char="•"/>
            </a:pPr>
            <a:endParaRPr lang="en-IN" sz="1800" b="0" i="0" u="none" strike="noStrike" baseline="0" dirty="0">
              <a:latin typeface="CMR12"/>
            </a:endParaRPr>
          </a:p>
          <a:p>
            <a:pPr marL="285750" indent="-285750" algn="just">
              <a:buFont typeface="Arial" panose="020B0604020202020204" pitchFamily="34" charset="0"/>
              <a:buChar char="•"/>
            </a:pPr>
            <a:r>
              <a:rPr lang="en-US" sz="1800" b="0" i="0" u="none" strike="noStrike" baseline="0" dirty="0">
                <a:latin typeface="CMR12"/>
              </a:rPr>
              <a:t>With the advancement of technologies Artificial Intelligence (AI) and Machin</a:t>
            </a:r>
            <a:r>
              <a:rPr lang="en-US" dirty="0">
                <a:latin typeface="CMR12"/>
              </a:rPr>
              <a:t>e L</a:t>
            </a:r>
            <a:r>
              <a:rPr lang="en-US" sz="1800" b="0" i="0" u="none" strike="noStrike" baseline="0" dirty="0">
                <a:latin typeface="CMR12"/>
              </a:rPr>
              <a:t>earning (ML) are playing a vital role in ASD Detection. </a:t>
            </a:r>
          </a:p>
          <a:p>
            <a:pPr marL="285750" indent="-285750" algn="just">
              <a:buFont typeface="Arial" panose="020B0604020202020204" pitchFamily="34" charset="0"/>
              <a:buChar char="•"/>
            </a:pPr>
            <a:endParaRPr lang="en-US" sz="1800" b="0" i="0" u="none" strike="noStrike" baseline="0" dirty="0">
              <a:latin typeface="CMR12"/>
            </a:endParaRPr>
          </a:p>
          <a:p>
            <a:pPr marL="285750" indent="-285750" algn="just">
              <a:buFont typeface="Arial" panose="020B0604020202020204" pitchFamily="34" charset="0"/>
              <a:buChar char="•"/>
            </a:pPr>
            <a:r>
              <a:rPr lang="en-US" dirty="0">
                <a:latin typeface="CMR12"/>
              </a:rPr>
              <a:t>T</a:t>
            </a:r>
            <a:r>
              <a:rPr lang="en-IN" sz="1800" b="0" i="0" u="none" strike="noStrike" baseline="0" dirty="0">
                <a:latin typeface="CMR12"/>
              </a:rPr>
              <a:t>here are various machine </a:t>
            </a:r>
            <a:r>
              <a:rPr lang="en-US" sz="1800" b="0" i="0" u="none" strike="noStrike" baseline="0" dirty="0">
                <a:latin typeface="CMR12"/>
              </a:rPr>
              <a:t>learning models like VGG, CNN etc. showcasing </a:t>
            </a:r>
            <a:r>
              <a:rPr lang="en-US" dirty="0">
                <a:latin typeface="CMR12"/>
              </a:rPr>
              <a:t>good </a:t>
            </a:r>
            <a:r>
              <a:rPr lang="en-US" sz="1800" b="0" i="0" u="none" strike="noStrike" baseline="0" dirty="0">
                <a:latin typeface="CMR12"/>
              </a:rPr>
              <a:t>result in the </a:t>
            </a:r>
            <a:r>
              <a:rPr lang="en-IN" sz="1800" b="0" i="0" u="none" strike="noStrike" baseline="0" dirty="0">
                <a:latin typeface="CMR12"/>
              </a:rPr>
              <a:t>medical field.</a:t>
            </a:r>
          </a:p>
          <a:p>
            <a:pPr marL="285750" indent="-285750" algn="just">
              <a:buFont typeface="Arial" panose="020B0604020202020204" pitchFamily="34" charset="0"/>
              <a:buChar char="•"/>
            </a:pPr>
            <a:endParaRPr lang="en-IN" dirty="0">
              <a:latin typeface="CMR12"/>
            </a:endParaRPr>
          </a:p>
          <a:p>
            <a:pPr marL="285750" indent="-285750" algn="just">
              <a:buFont typeface="Arial" panose="020B0604020202020204" pitchFamily="34" charset="0"/>
              <a:buChar char="•"/>
            </a:pPr>
            <a:r>
              <a:rPr lang="en-IN" dirty="0">
                <a:latin typeface="CMR12"/>
              </a:rPr>
              <a:t>Here we tried to implement </a:t>
            </a:r>
            <a:r>
              <a:rPr lang="en-IN" b="1" dirty="0">
                <a:latin typeface="CMR12"/>
              </a:rPr>
              <a:t>CNN, VGG and FPN </a:t>
            </a:r>
            <a:r>
              <a:rPr lang="en-IN" dirty="0">
                <a:latin typeface="CMR12"/>
              </a:rPr>
              <a:t>on Facial Images.</a:t>
            </a:r>
          </a:p>
          <a:p>
            <a:pPr marL="285750" indent="-285750" algn="just">
              <a:buFont typeface="Arial" panose="020B0604020202020204" pitchFamily="34" charset="0"/>
              <a:buChar char="•"/>
            </a:pPr>
            <a:endParaRPr lang="en-IN" dirty="0">
              <a:latin typeface="CMR12"/>
            </a:endParaRPr>
          </a:p>
          <a:p>
            <a:pPr marL="285750" indent="-285750" algn="just">
              <a:buFont typeface="Arial" panose="020B0604020202020204" pitchFamily="34" charset="0"/>
              <a:buChar char="•"/>
            </a:pPr>
            <a:r>
              <a:rPr lang="en-US" dirty="0">
                <a:latin typeface="CMR12"/>
              </a:rPr>
              <a:t>FPN combines features from different levels of a convolutional neural network to improve accuracy at various object scales</a:t>
            </a:r>
          </a:p>
        </p:txBody>
      </p:sp>
      <p:pic>
        <p:nvPicPr>
          <p:cNvPr id="2050" name="Picture 2" descr="Autism Spectrum Screening Questionnaire (ASSQ) – NovoPsych">
            <a:extLst>
              <a:ext uri="{FF2B5EF4-FFF2-40B4-BE49-F238E27FC236}">
                <a16:creationId xmlns:a16="http://schemas.microsoft.com/office/drawing/2014/main" id="{868CD207-9658-FDF3-EFB1-90F50A9751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71" t="2336" r="4730" b="56965"/>
          <a:stretch/>
        </p:blipFill>
        <p:spPr bwMode="auto">
          <a:xfrm>
            <a:off x="7432309" y="1376638"/>
            <a:ext cx="2321290" cy="174248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igns and Symptoms of Autism Spectrum Disorders | CDC">
            <a:extLst>
              <a:ext uri="{FF2B5EF4-FFF2-40B4-BE49-F238E27FC236}">
                <a16:creationId xmlns:a16="http://schemas.microsoft.com/office/drawing/2014/main" id="{B3E46DEF-7BAC-BA5D-4F52-ED6C899B04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880" r="30210"/>
          <a:stretch/>
        </p:blipFill>
        <p:spPr bwMode="auto">
          <a:xfrm>
            <a:off x="9923133" y="1232901"/>
            <a:ext cx="1569451" cy="188621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ome children with autism more able to read thoughts and feelings from  facial expressions than previously thought, Kingston University research  reveals - News - Kingston University London">
            <a:extLst>
              <a:ext uri="{FF2B5EF4-FFF2-40B4-BE49-F238E27FC236}">
                <a16:creationId xmlns:a16="http://schemas.microsoft.com/office/drawing/2014/main" id="{399C5873-4872-DA9F-649A-C06CEAA6CB6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821" r="9214"/>
          <a:stretch/>
        </p:blipFill>
        <p:spPr bwMode="auto">
          <a:xfrm>
            <a:off x="7432309" y="3429000"/>
            <a:ext cx="2213715"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utism: fMRI Brain Scans Can Predict Autism With 97% Accuracy | Time">
            <a:extLst>
              <a:ext uri="{FF2B5EF4-FFF2-40B4-BE49-F238E27FC236}">
                <a16:creationId xmlns:a16="http://schemas.microsoft.com/office/drawing/2014/main" id="{49DFC1B2-F0BC-9763-848A-EB4EA8E080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23133" y="3429000"/>
            <a:ext cx="1569451" cy="16002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2A184D5-C97A-41F7-073A-01387C771169}"/>
              </a:ext>
            </a:extLst>
          </p:cNvPr>
          <p:cNvSpPr txBox="1"/>
          <p:nvPr/>
        </p:nvSpPr>
        <p:spPr>
          <a:xfrm>
            <a:off x="7172146" y="5154414"/>
            <a:ext cx="4958080" cy="369332"/>
          </a:xfrm>
          <a:prstGeom prst="rect">
            <a:avLst/>
          </a:prstGeom>
          <a:noFill/>
        </p:spPr>
        <p:txBody>
          <a:bodyPr wrap="square">
            <a:spAutoFit/>
          </a:bodyPr>
          <a:lstStyle/>
          <a:p>
            <a:r>
              <a:rPr lang="en-IN" b="1" dirty="0">
                <a:solidFill>
                  <a:srgbClr val="FF0000"/>
                </a:solidFill>
              </a:rPr>
              <a:t>Various screening methodologies to diagnose ASD </a:t>
            </a:r>
          </a:p>
        </p:txBody>
      </p:sp>
      <p:sp>
        <p:nvSpPr>
          <p:cNvPr id="5" name="TextBox 4">
            <a:extLst>
              <a:ext uri="{FF2B5EF4-FFF2-40B4-BE49-F238E27FC236}">
                <a16:creationId xmlns:a16="http://schemas.microsoft.com/office/drawing/2014/main" id="{C6AE0211-38D4-452A-F629-A068421CCE78}"/>
              </a:ext>
            </a:extLst>
          </p:cNvPr>
          <p:cNvSpPr txBox="1"/>
          <p:nvPr/>
        </p:nvSpPr>
        <p:spPr>
          <a:xfrm>
            <a:off x="7781209" y="977580"/>
            <a:ext cx="1569451" cy="369332"/>
          </a:xfrm>
          <a:prstGeom prst="rect">
            <a:avLst/>
          </a:prstGeom>
          <a:noFill/>
        </p:spPr>
        <p:txBody>
          <a:bodyPr wrap="square">
            <a:spAutoFit/>
          </a:bodyPr>
          <a:lstStyle/>
          <a:p>
            <a:r>
              <a:rPr lang="en-IN" b="1" dirty="0"/>
              <a:t>Questionnaire</a:t>
            </a:r>
          </a:p>
        </p:txBody>
      </p:sp>
      <p:sp>
        <p:nvSpPr>
          <p:cNvPr id="6" name="TextBox 5">
            <a:extLst>
              <a:ext uri="{FF2B5EF4-FFF2-40B4-BE49-F238E27FC236}">
                <a16:creationId xmlns:a16="http://schemas.microsoft.com/office/drawing/2014/main" id="{CAB40C06-E17B-DD2F-14A0-765B7035C3B9}"/>
              </a:ext>
            </a:extLst>
          </p:cNvPr>
          <p:cNvSpPr txBox="1"/>
          <p:nvPr/>
        </p:nvSpPr>
        <p:spPr>
          <a:xfrm>
            <a:off x="9997610" y="964922"/>
            <a:ext cx="1569451" cy="369332"/>
          </a:xfrm>
          <a:prstGeom prst="rect">
            <a:avLst/>
          </a:prstGeom>
          <a:noFill/>
        </p:spPr>
        <p:txBody>
          <a:bodyPr wrap="square">
            <a:spAutoFit/>
          </a:bodyPr>
          <a:lstStyle/>
          <a:p>
            <a:r>
              <a:rPr lang="en-IN" b="1" dirty="0"/>
              <a:t>Facial Images</a:t>
            </a:r>
          </a:p>
        </p:txBody>
      </p:sp>
      <p:sp>
        <p:nvSpPr>
          <p:cNvPr id="7" name="TextBox 6">
            <a:extLst>
              <a:ext uri="{FF2B5EF4-FFF2-40B4-BE49-F238E27FC236}">
                <a16:creationId xmlns:a16="http://schemas.microsoft.com/office/drawing/2014/main" id="{5D85220F-2DC8-1E45-C3F2-BA363E6FEE79}"/>
              </a:ext>
            </a:extLst>
          </p:cNvPr>
          <p:cNvSpPr txBox="1"/>
          <p:nvPr/>
        </p:nvSpPr>
        <p:spPr>
          <a:xfrm>
            <a:off x="7585521" y="3119120"/>
            <a:ext cx="2097741" cy="369332"/>
          </a:xfrm>
          <a:prstGeom prst="rect">
            <a:avLst/>
          </a:prstGeom>
          <a:noFill/>
        </p:spPr>
        <p:txBody>
          <a:bodyPr wrap="square">
            <a:spAutoFit/>
          </a:bodyPr>
          <a:lstStyle/>
          <a:p>
            <a:r>
              <a:rPr lang="en-IN" b="1" dirty="0"/>
              <a:t>Eyeball movement</a:t>
            </a:r>
          </a:p>
        </p:txBody>
      </p:sp>
      <p:sp>
        <p:nvSpPr>
          <p:cNvPr id="8" name="TextBox 7">
            <a:extLst>
              <a:ext uri="{FF2B5EF4-FFF2-40B4-BE49-F238E27FC236}">
                <a16:creationId xmlns:a16="http://schemas.microsoft.com/office/drawing/2014/main" id="{F12A17D0-AE7A-385F-A20A-98EF1656BE49}"/>
              </a:ext>
            </a:extLst>
          </p:cNvPr>
          <p:cNvSpPr txBox="1"/>
          <p:nvPr/>
        </p:nvSpPr>
        <p:spPr>
          <a:xfrm>
            <a:off x="10391616" y="3130323"/>
            <a:ext cx="781438" cy="369332"/>
          </a:xfrm>
          <a:prstGeom prst="rect">
            <a:avLst/>
          </a:prstGeom>
          <a:noFill/>
        </p:spPr>
        <p:txBody>
          <a:bodyPr wrap="square">
            <a:spAutoFit/>
          </a:bodyPr>
          <a:lstStyle/>
          <a:p>
            <a:r>
              <a:rPr lang="en-US" b="1" dirty="0"/>
              <a:t>fMRI</a:t>
            </a:r>
            <a:endParaRPr lang="en-IN" b="1" dirty="0"/>
          </a:p>
        </p:txBody>
      </p:sp>
    </p:spTree>
    <p:extLst>
      <p:ext uri="{BB962C8B-B14F-4D97-AF65-F5344CB8AC3E}">
        <p14:creationId xmlns:p14="http://schemas.microsoft.com/office/powerpoint/2010/main" val="1844908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FFA-CBA5-D40C-087F-76935D903928}"/>
              </a:ext>
            </a:extLst>
          </p:cNvPr>
          <p:cNvSpPr txBox="1">
            <a:spLocks/>
          </p:cNvSpPr>
          <p:nvPr/>
        </p:nvSpPr>
        <p:spPr>
          <a:xfrm>
            <a:off x="849983" y="537769"/>
            <a:ext cx="10058400" cy="74845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u="sng" dirty="0">
                <a:latin typeface="HP Simplified" panose="020B0604020204020204" pitchFamily="34" charset="0"/>
              </a:rPr>
              <a:t>R</a:t>
            </a:r>
            <a:r>
              <a:rPr lang="en-IN" sz="4000" u="sng" dirty="0">
                <a:latin typeface="HP Simplified" panose="020B0604020204020204" pitchFamily="34" charset="0"/>
              </a:rPr>
              <a:t>elated Work</a:t>
            </a:r>
          </a:p>
        </p:txBody>
      </p:sp>
      <p:sp>
        <p:nvSpPr>
          <p:cNvPr id="4" name="TextBox 3">
            <a:extLst>
              <a:ext uri="{FF2B5EF4-FFF2-40B4-BE49-F238E27FC236}">
                <a16:creationId xmlns:a16="http://schemas.microsoft.com/office/drawing/2014/main" id="{9435689D-F428-D5C3-51D5-4CEEA941B980}"/>
              </a:ext>
            </a:extLst>
          </p:cNvPr>
          <p:cNvSpPr txBox="1"/>
          <p:nvPr/>
        </p:nvSpPr>
        <p:spPr>
          <a:xfrm>
            <a:off x="826994" y="1497858"/>
            <a:ext cx="10538012" cy="4294124"/>
          </a:xfrm>
          <a:prstGeom prst="rect">
            <a:avLst/>
          </a:prstGeom>
          <a:noFill/>
        </p:spPr>
        <p:txBody>
          <a:bodyPr wrap="square">
            <a:spAutoFit/>
          </a:bodyPr>
          <a:lstStyle/>
          <a:p>
            <a:pPr marL="285750" indent="-285750" algn="just">
              <a:lnSpc>
                <a:spcPct val="107000"/>
              </a:lnSpc>
              <a:spcAft>
                <a:spcPts val="800"/>
              </a:spcAft>
              <a:buFont typeface="Arial" panose="020B0604020202020204" pitchFamily="34" charset="0"/>
              <a:buChar char="•"/>
            </a:pPr>
            <a:r>
              <a:rPr lang="en-IN" sz="1650" kern="100" dirty="0" err="1">
                <a:effectLst/>
                <a:latin typeface="Calibri" panose="020F0502020204030204" pitchFamily="34" charset="0"/>
                <a:ea typeface="Calibri" panose="020F0502020204030204" pitchFamily="34" charset="0"/>
                <a:cs typeface="Times New Roman" panose="02020603050405020304" pitchFamily="18" charset="0"/>
              </a:rPr>
              <a:t>Kanner</a:t>
            </a:r>
            <a:r>
              <a:rPr lang="en-IN" sz="1650" kern="100" dirty="0">
                <a:effectLst/>
                <a:latin typeface="Calibri" panose="020F0502020204030204" pitchFamily="34" charset="0"/>
                <a:ea typeface="Calibri" panose="020F0502020204030204" pitchFamily="34" charset="0"/>
                <a:cs typeface="Times New Roman" panose="02020603050405020304" pitchFamily="18" charset="0"/>
              </a:rPr>
              <a:t> was the first person who identified and published the first methodical illustration of early infantile autism in the year 1943. </a:t>
            </a:r>
            <a:r>
              <a:rPr lang="en-IN" sz="1650" kern="100" dirty="0" err="1">
                <a:effectLst/>
                <a:latin typeface="Calibri" panose="020F0502020204030204" pitchFamily="34" charset="0"/>
                <a:ea typeface="Calibri" panose="020F0502020204030204" pitchFamily="34" charset="0"/>
                <a:cs typeface="Times New Roman" panose="02020603050405020304" pitchFamily="18" charset="0"/>
              </a:rPr>
              <a:t>Kanner</a:t>
            </a:r>
            <a:r>
              <a:rPr lang="en-IN" sz="1650" kern="100" dirty="0">
                <a:effectLst/>
                <a:latin typeface="Calibri" panose="020F0502020204030204" pitchFamily="34" charset="0"/>
                <a:ea typeface="Calibri" panose="020F0502020204030204" pitchFamily="34" charset="0"/>
                <a:cs typeface="Times New Roman" panose="02020603050405020304" pitchFamily="18" charset="0"/>
              </a:rPr>
              <a:t>, a lifelong supporter of children, emphasised that each child must be treated as a unique individual, regardless of how well developed our criteria are, when discussing the DSM III criteria in 1980.</a:t>
            </a:r>
          </a:p>
          <a:p>
            <a:pPr marL="285750" indent="-285750" algn="just">
              <a:lnSpc>
                <a:spcPct val="107000"/>
              </a:lnSpc>
              <a:spcAft>
                <a:spcPts val="800"/>
              </a:spcAft>
              <a:buFont typeface="Arial" panose="020B0604020202020204" pitchFamily="34" charset="0"/>
              <a:buChar char="•"/>
            </a:pPr>
            <a:endParaRPr lang="en-IN" sz="165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800"/>
              </a:spcAft>
              <a:buFont typeface="Arial" panose="020B0604020202020204" pitchFamily="34" charset="0"/>
              <a:buChar char="•"/>
            </a:pPr>
            <a:r>
              <a:rPr lang="en-US" sz="1650" dirty="0">
                <a:effectLst/>
                <a:latin typeface="Calibri" panose="020F0502020204030204" pitchFamily="34" charset="0"/>
                <a:ea typeface="Calibri" panose="020F0502020204030204" pitchFamily="34" charset="0"/>
                <a:cs typeface="Times New Roman" panose="02020603050405020304" pitchFamily="18" charset="0"/>
              </a:rPr>
              <a:t>Marco Leo surveyed the analysis of facial information using various computer vision techniques which deal with analyzing facial components like Eye, mouth, facial muscles, and shape tools like gaze tracking, speech recognition, and emotion recognition. This data </a:t>
            </a:r>
            <a:r>
              <a:rPr lang="en-US" sz="1650" dirty="0">
                <a:latin typeface="Calibri" panose="020F0502020204030204" pitchFamily="34" charset="0"/>
                <a:ea typeface="Calibri" panose="020F0502020204030204" pitchFamily="34" charset="0"/>
                <a:cs typeface="Times New Roman" panose="02020603050405020304" pitchFamily="18" charset="0"/>
              </a:rPr>
              <a:t>was </a:t>
            </a:r>
            <a:r>
              <a:rPr lang="en-US" sz="1650" dirty="0">
                <a:effectLst/>
                <a:latin typeface="Calibri" panose="020F0502020204030204" pitchFamily="34" charset="0"/>
                <a:ea typeface="Calibri" panose="020F0502020204030204" pitchFamily="34" charset="0"/>
                <a:cs typeface="Times New Roman" panose="02020603050405020304" pitchFamily="18" charset="0"/>
              </a:rPr>
              <a:t>given to clinicians and therapists to monitor the children's behavior to diagnose autism. Pramit Mazumdar developed a CNN model which uses an eye-tracking image dataset and achieved an accuracy of 83% accuracy.</a:t>
            </a:r>
          </a:p>
          <a:p>
            <a:pPr marL="285750" indent="-285750" algn="just">
              <a:lnSpc>
                <a:spcPct val="107000"/>
              </a:lnSpc>
              <a:spcAft>
                <a:spcPts val="800"/>
              </a:spcAft>
              <a:buFont typeface="Arial" panose="020B0604020202020204" pitchFamily="34" charset="0"/>
              <a:buChar char="•"/>
            </a:pPr>
            <a:endParaRPr lang="en-US" sz="165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800"/>
              </a:spcAft>
              <a:buFont typeface="Arial" panose="020B0604020202020204" pitchFamily="34" charset="0"/>
              <a:buChar char="•"/>
            </a:pPr>
            <a:r>
              <a:rPr lang="en-IN" sz="1650" kern="100" dirty="0">
                <a:effectLst/>
                <a:latin typeface="Calibri" panose="020F0502020204030204" pitchFamily="34" charset="0"/>
                <a:ea typeface="Calibri" panose="020F0502020204030204" pitchFamily="34" charset="0"/>
                <a:cs typeface="Times New Roman" panose="02020603050405020304" pitchFamily="18" charset="0"/>
              </a:rPr>
              <a:t>Lin et al, presented a clean and simple framework for building feature pyramids inside ConvNets. This approach exceeds a number of credible baselines and competition winners. As a result, they provided an efficient method for studying and using feature pyramids without the requirement for image pyramid computation. By this work finally states that it is still critical to address multiscale problems using pyramid representations.</a:t>
            </a:r>
          </a:p>
        </p:txBody>
      </p:sp>
    </p:spTree>
    <p:extLst>
      <p:ext uri="{BB962C8B-B14F-4D97-AF65-F5344CB8AC3E}">
        <p14:creationId xmlns:p14="http://schemas.microsoft.com/office/powerpoint/2010/main" val="4224905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B7578-7716-3C25-053D-E5D76336097D}"/>
              </a:ext>
            </a:extLst>
          </p:cNvPr>
          <p:cNvSpPr txBox="1">
            <a:spLocks/>
          </p:cNvSpPr>
          <p:nvPr/>
        </p:nvSpPr>
        <p:spPr>
          <a:xfrm>
            <a:off x="849983" y="537769"/>
            <a:ext cx="10058400" cy="508606"/>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600" u="sng" dirty="0">
                <a:latin typeface="HP Simplified" panose="020B0604020204020204" pitchFamily="34" charset="0"/>
              </a:rPr>
              <a:t>Dataset Description</a:t>
            </a:r>
          </a:p>
        </p:txBody>
      </p:sp>
      <p:pic>
        <p:nvPicPr>
          <p:cNvPr id="3" name="Picture 2">
            <a:extLst>
              <a:ext uri="{FF2B5EF4-FFF2-40B4-BE49-F238E27FC236}">
                <a16:creationId xmlns:a16="http://schemas.microsoft.com/office/drawing/2014/main" id="{1CBD60D1-88B3-4092-2D48-10B37F7EA9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6299" y="2093479"/>
            <a:ext cx="6485649" cy="2671042"/>
          </a:xfrm>
          <a:prstGeom prst="rect">
            <a:avLst/>
          </a:prstGeom>
        </p:spPr>
      </p:pic>
      <p:sp>
        <p:nvSpPr>
          <p:cNvPr id="4" name="TextBox 3">
            <a:extLst>
              <a:ext uri="{FF2B5EF4-FFF2-40B4-BE49-F238E27FC236}">
                <a16:creationId xmlns:a16="http://schemas.microsoft.com/office/drawing/2014/main" id="{035C26E5-82B5-70AA-8739-663C6EE60ED5}"/>
              </a:ext>
            </a:extLst>
          </p:cNvPr>
          <p:cNvSpPr txBox="1"/>
          <p:nvPr/>
        </p:nvSpPr>
        <p:spPr>
          <a:xfrm>
            <a:off x="511029" y="1735303"/>
            <a:ext cx="4632230" cy="4247317"/>
          </a:xfrm>
          <a:prstGeom prst="rect">
            <a:avLst/>
          </a:prstGeom>
          <a:noFill/>
        </p:spPr>
        <p:txBody>
          <a:bodyPr wrap="square">
            <a:spAutoFit/>
          </a:bodyPr>
          <a:lstStyle/>
          <a:p>
            <a:pPr marL="285750" indent="-285750" algn="just">
              <a:buFont typeface="Arial" panose="020B0604020202020204" pitchFamily="34" charset="0"/>
              <a:buChar char="•"/>
            </a:pPr>
            <a:r>
              <a:rPr lang="en-US" dirty="0"/>
              <a:t>It is an open source data named Autism Facial Images which is available in Kaggle.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This dataset consisted of facial images of children who are </a:t>
            </a:r>
            <a:r>
              <a:rPr lang="en-US" b="1" dirty="0"/>
              <a:t>Autistic</a:t>
            </a:r>
            <a:r>
              <a:rPr lang="en-US" dirty="0"/>
              <a:t> and </a:t>
            </a:r>
            <a:r>
              <a:rPr lang="en-US" b="1" dirty="0"/>
              <a:t>Non-Autistic</a:t>
            </a:r>
            <a:r>
              <a:rPr lang="en-US" dirty="0"/>
              <a:t>.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 total, the dataset contains 2928 images where</a:t>
            </a:r>
          </a:p>
          <a:p>
            <a:pPr marL="742950" lvl="1" indent="-285750" algn="just">
              <a:buFont typeface="Arial" panose="020B0604020202020204" pitchFamily="34" charset="0"/>
              <a:buChar char="•"/>
            </a:pPr>
            <a:r>
              <a:rPr lang="en-US" dirty="0"/>
              <a:t>1464 are autistic</a:t>
            </a:r>
          </a:p>
          <a:p>
            <a:pPr marL="742950" lvl="1" indent="-285750" algn="just">
              <a:buFont typeface="Arial" panose="020B0604020202020204" pitchFamily="34" charset="0"/>
              <a:buChar char="•"/>
            </a:pPr>
            <a:r>
              <a:rPr lang="en-US" dirty="0"/>
              <a:t>1464 are non-autistic</a:t>
            </a:r>
          </a:p>
          <a:p>
            <a:pPr marL="742950" lvl="1"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dataset is divided into training and testing dataset in the ratio of 80:20.</a:t>
            </a:r>
          </a:p>
          <a:p>
            <a:pPr marL="742950" lvl="1"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p:txBody>
      </p:sp>
    </p:spTree>
    <p:extLst>
      <p:ext uri="{BB962C8B-B14F-4D97-AF65-F5344CB8AC3E}">
        <p14:creationId xmlns:p14="http://schemas.microsoft.com/office/powerpoint/2010/main" val="1130879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A26E-8379-59F2-6ACF-F2CF219D05C2}"/>
              </a:ext>
            </a:extLst>
          </p:cNvPr>
          <p:cNvSpPr txBox="1">
            <a:spLocks/>
          </p:cNvSpPr>
          <p:nvPr/>
        </p:nvSpPr>
        <p:spPr>
          <a:xfrm>
            <a:off x="849983" y="537769"/>
            <a:ext cx="10058400" cy="508606"/>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3600" u="sng" dirty="0">
                <a:latin typeface="HP Simplified" panose="020B0604020204020204" pitchFamily="34" charset="0"/>
              </a:rPr>
              <a:t>Feature Pyramid Network(FPN)</a:t>
            </a:r>
            <a:endParaRPr lang="en-IN" sz="3600" u="sng" dirty="0">
              <a:latin typeface="HP Simplified" panose="020B0604020204020204" pitchFamily="34" charset="0"/>
            </a:endParaRPr>
          </a:p>
        </p:txBody>
      </p:sp>
      <p:sp>
        <p:nvSpPr>
          <p:cNvPr id="8" name="TextBox 7">
            <a:extLst>
              <a:ext uri="{FF2B5EF4-FFF2-40B4-BE49-F238E27FC236}">
                <a16:creationId xmlns:a16="http://schemas.microsoft.com/office/drawing/2014/main" id="{1CCB84A7-576C-ABA1-C346-6E700FA9CCC4}"/>
              </a:ext>
            </a:extLst>
          </p:cNvPr>
          <p:cNvSpPr txBox="1"/>
          <p:nvPr/>
        </p:nvSpPr>
        <p:spPr>
          <a:xfrm>
            <a:off x="619760" y="1468067"/>
            <a:ext cx="5709921" cy="3416320"/>
          </a:xfrm>
          <a:prstGeom prst="rect">
            <a:avLst/>
          </a:prstGeom>
          <a:noFill/>
        </p:spPr>
        <p:txBody>
          <a:bodyPr wrap="square">
            <a:spAutoFit/>
          </a:bodyPr>
          <a:lstStyle/>
          <a:p>
            <a:pPr marL="285750" indent="-285750" algn="just">
              <a:buFont typeface="Arial" panose="020B0604020202020204" pitchFamily="34" charset="0"/>
              <a:buChar char="•"/>
            </a:pPr>
            <a:r>
              <a:rPr lang="en-US" b="0" i="0" dirty="0">
                <a:effectLst/>
              </a:rPr>
              <a:t> FPN is a deep learning architecture commonly used </a:t>
            </a:r>
            <a:r>
              <a:rPr lang="en-US" dirty="0"/>
              <a:t>in </a:t>
            </a:r>
            <a:r>
              <a:rPr lang="en-US" b="0" i="0" dirty="0">
                <a:effectLst/>
              </a:rPr>
              <a:t>object detection and segmentation.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0" i="0" dirty="0">
                <a:effectLst/>
              </a:rPr>
              <a:t>The main goal of FPN is to address the challenge of detecting objects at </a:t>
            </a:r>
            <a:r>
              <a:rPr lang="en-US" b="1" i="0" dirty="0">
                <a:effectLst/>
              </a:rPr>
              <a:t>multiple scales </a:t>
            </a:r>
            <a:r>
              <a:rPr lang="en-US" b="0" i="0" dirty="0">
                <a:effectLst/>
              </a:rPr>
              <a:t>within an image.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0" i="0" dirty="0">
                <a:effectLst/>
              </a:rPr>
              <a:t>It achieves this by creating a feature pyramid, which consists of a set of feature maps at different resolutions.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0" i="0" dirty="0">
                <a:effectLst/>
              </a:rPr>
              <a:t>It has 2 pathways and a lateral connection namely:</a:t>
            </a:r>
          </a:p>
          <a:p>
            <a:pPr marL="742950" lvl="1" indent="-285750" algn="just">
              <a:buFont typeface="Arial" panose="020B0604020202020204" pitchFamily="34" charset="0"/>
              <a:buChar char="•"/>
            </a:pPr>
            <a:r>
              <a:rPr lang="en-US" dirty="0"/>
              <a:t>Bottom-up pathway</a:t>
            </a:r>
          </a:p>
          <a:p>
            <a:pPr marL="742950" lvl="1" indent="-285750" algn="just">
              <a:buFont typeface="Arial" panose="020B0604020202020204" pitchFamily="34" charset="0"/>
              <a:buChar char="•"/>
            </a:pPr>
            <a:r>
              <a:rPr lang="en-US" b="0" i="0" dirty="0">
                <a:effectLst/>
              </a:rPr>
              <a:t>Top-down pathway</a:t>
            </a:r>
          </a:p>
        </p:txBody>
      </p:sp>
      <p:sp>
        <p:nvSpPr>
          <p:cNvPr id="10" name="TextBox 9">
            <a:extLst>
              <a:ext uri="{FF2B5EF4-FFF2-40B4-BE49-F238E27FC236}">
                <a16:creationId xmlns:a16="http://schemas.microsoft.com/office/drawing/2014/main" id="{1731C4AD-2C48-1E81-A7F3-32CC5E36635A}"/>
              </a:ext>
            </a:extLst>
          </p:cNvPr>
          <p:cNvSpPr txBox="1"/>
          <p:nvPr/>
        </p:nvSpPr>
        <p:spPr>
          <a:xfrm>
            <a:off x="575662" y="5176679"/>
            <a:ext cx="10986418" cy="923330"/>
          </a:xfrm>
          <a:prstGeom prst="rect">
            <a:avLst/>
          </a:prstGeom>
          <a:noFill/>
        </p:spPr>
        <p:txBody>
          <a:bodyPr wrap="square">
            <a:spAutoFit/>
          </a:bodyPr>
          <a:lstStyle/>
          <a:p>
            <a:pPr marL="285750" indent="-285750">
              <a:buFont typeface="Arial" panose="020B0604020202020204" pitchFamily="34" charset="0"/>
              <a:buChar char="•"/>
            </a:pPr>
            <a:r>
              <a:rPr lang="en-US" sz="1800" b="0" i="0" kern="1200" dirty="0">
                <a:effectLst/>
                <a:ea typeface="+mn-ea"/>
                <a:cs typeface="+mn-cs"/>
              </a:rPr>
              <a:t>High-resolution features provide fine-grained details for detecting small objects, while low-resolution features capture context and semantics for larger objects.</a:t>
            </a:r>
            <a:endParaRPr lang="en-IN" dirty="0">
              <a:effectLst/>
            </a:endParaRPr>
          </a:p>
          <a:p>
            <a:endParaRPr lang="en-IN" dirty="0"/>
          </a:p>
        </p:txBody>
      </p:sp>
      <p:pic>
        <p:nvPicPr>
          <p:cNvPr id="5" name="Picture 4">
            <a:extLst>
              <a:ext uri="{FF2B5EF4-FFF2-40B4-BE49-F238E27FC236}">
                <a16:creationId xmlns:a16="http://schemas.microsoft.com/office/drawing/2014/main" id="{5D83DC8C-5CB4-EB01-BA04-5AD6DFBB69FD}"/>
              </a:ext>
            </a:extLst>
          </p:cNvPr>
          <p:cNvPicPr>
            <a:picLocks noChangeAspect="1"/>
          </p:cNvPicPr>
          <p:nvPr/>
        </p:nvPicPr>
        <p:blipFill rotWithShape="1">
          <a:blip r:embed="rId2">
            <a:extLst>
              <a:ext uri="{28A0092B-C50C-407E-A947-70E740481C1C}">
                <a14:useLocalDpi xmlns:a14="http://schemas.microsoft.com/office/drawing/2010/main" val="0"/>
              </a:ext>
            </a:extLst>
          </a:blip>
          <a:srcRect l="4758" t="7387" r="2898" b="4584"/>
          <a:stretch/>
        </p:blipFill>
        <p:spPr>
          <a:xfrm>
            <a:off x="6329681" y="1568824"/>
            <a:ext cx="5602343" cy="3312020"/>
          </a:xfrm>
          <a:prstGeom prst="rect">
            <a:avLst/>
          </a:prstGeom>
        </p:spPr>
      </p:pic>
    </p:spTree>
    <p:extLst>
      <p:ext uri="{BB962C8B-B14F-4D97-AF65-F5344CB8AC3E}">
        <p14:creationId xmlns:p14="http://schemas.microsoft.com/office/powerpoint/2010/main" val="422147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69B6404-066B-B19D-6B84-CC5EE0220D8D}"/>
              </a:ext>
            </a:extLst>
          </p:cNvPr>
          <p:cNvSpPr/>
          <p:nvPr/>
        </p:nvSpPr>
        <p:spPr>
          <a:xfrm>
            <a:off x="1150071" y="1762056"/>
            <a:ext cx="4492982" cy="31895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7CECA36-A8F6-30E5-DCF6-523CAFC99E45}"/>
              </a:ext>
            </a:extLst>
          </p:cNvPr>
          <p:cNvSpPr/>
          <p:nvPr/>
        </p:nvSpPr>
        <p:spPr>
          <a:xfrm>
            <a:off x="6548947" y="1740134"/>
            <a:ext cx="4492983" cy="31895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5A7F34E-3458-B46A-5DCB-132A6DFB7A1B}"/>
              </a:ext>
            </a:extLst>
          </p:cNvPr>
          <p:cNvSpPr txBox="1">
            <a:spLocks/>
          </p:cNvSpPr>
          <p:nvPr/>
        </p:nvSpPr>
        <p:spPr>
          <a:xfrm>
            <a:off x="1150071" y="1031616"/>
            <a:ext cx="4492982" cy="508606"/>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dirty="0">
                <a:latin typeface="HP Simplified" panose="020B0604020204020204" pitchFamily="34" charset="0"/>
              </a:rPr>
              <a:t>CNN</a:t>
            </a:r>
          </a:p>
        </p:txBody>
      </p:sp>
      <p:sp>
        <p:nvSpPr>
          <p:cNvPr id="7" name="Title 1">
            <a:extLst>
              <a:ext uri="{FF2B5EF4-FFF2-40B4-BE49-F238E27FC236}">
                <a16:creationId xmlns:a16="http://schemas.microsoft.com/office/drawing/2014/main" id="{D335FFF9-C907-77CA-93E7-564167EDB701}"/>
              </a:ext>
            </a:extLst>
          </p:cNvPr>
          <p:cNvSpPr txBox="1">
            <a:spLocks/>
          </p:cNvSpPr>
          <p:nvPr/>
        </p:nvSpPr>
        <p:spPr>
          <a:xfrm>
            <a:off x="6548947" y="1031616"/>
            <a:ext cx="4492982" cy="508606"/>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dirty="0">
                <a:latin typeface="HP Simplified" panose="020B0604020204020204" pitchFamily="34" charset="0"/>
              </a:rPr>
              <a:t>VGG16</a:t>
            </a:r>
          </a:p>
        </p:txBody>
      </p:sp>
      <p:sp>
        <p:nvSpPr>
          <p:cNvPr id="10" name="TextBox 9">
            <a:extLst>
              <a:ext uri="{FF2B5EF4-FFF2-40B4-BE49-F238E27FC236}">
                <a16:creationId xmlns:a16="http://schemas.microsoft.com/office/drawing/2014/main" id="{B9EEA068-91BA-8275-B533-E61815240962}"/>
              </a:ext>
            </a:extLst>
          </p:cNvPr>
          <p:cNvSpPr txBox="1"/>
          <p:nvPr/>
        </p:nvSpPr>
        <p:spPr>
          <a:xfrm>
            <a:off x="1213656" y="1862932"/>
            <a:ext cx="4365812" cy="2862322"/>
          </a:xfrm>
          <a:prstGeom prst="rect">
            <a:avLst/>
          </a:prstGeom>
          <a:noFill/>
        </p:spPr>
        <p:txBody>
          <a:bodyPr wrap="square">
            <a:spAutoFit/>
          </a:bodyPr>
          <a:lstStyle/>
          <a:p>
            <a:pPr marL="285750" indent="-285750" algn="just">
              <a:buFont typeface="Arial" panose="020B0604020202020204" pitchFamily="34" charset="0"/>
              <a:buChar char="•"/>
            </a:pPr>
            <a:r>
              <a:rPr lang="en-IN" dirty="0"/>
              <a:t>CNN is one of the deep learning methods used to create models for a variety of applications. </a:t>
            </a:r>
          </a:p>
          <a:p>
            <a:pPr marL="285750" indent="-285750" algn="just">
              <a:buFont typeface="Arial" panose="020B0604020202020204" pitchFamily="34" charset="0"/>
              <a:buChar char="•"/>
            </a:pPr>
            <a:r>
              <a:rPr lang="en-IN" dirty="0"/>
              <a:t>CNN reduces an image to its lower dimensions without loosing its characteristics. </a:t>
            </a:r>
          </a:p>
          <a:p>
            <a:pPr marL="285750" indent="-285750" algn="just">
              <a:buFont typeface="Arial" panose="020B0604020202020204" pitchFamily="34" charset="0"/>
              <a:buChar char="•"/>
            </a:pPr>
            <a:r>
              <a:rPr lang="en-IN" dirty="0"/>
              <a:t>Typically, CNN consists of three layers: </a:t>
            </a:r>
          </a:p>
          <a:p>
            <a:pPr marL="742950" lvl="1" indent="-285750" algn="just">
              <a:buFont typeface="Arial" panose="020B0604020202020204" pitchFamily="34" charset="0"/>
              <a:buChar char="•"/>
            </a:pPr>
            <a:r>
              <a:rPr lang="en-IN" dirty="0"/>
              <a:t>a convolutional layer, </a:t>
            </a:r>
          </a:p>
          <a:p>
            <a:pPr marL="742950" lvl="1" indent="-285750" algn="just">
              <a:buFont typeface="Arial" panose="020B0604020202020204" pitchFamily="34" charset="0"/>
              <a:buChar char="•"/>
            </a:pPr>
            <a:r>
              <a:rPr lang="en-IN" dirty="0"/>
              <a:t>pooling layer and a </a:t>
            </a:r>
          </a:p>
          <a:p>
            <a:pPr marL="742950" lvl="1" indent="-285750" algn="just">
              <a:buFont typeface="Arial" panose="020B0604020202020204" pitchFamily="34" charset="0"/>
              <a:buChar char="•"/>
            </a:pPr>
            <a:r>
              <a:rPr lang="en-IN" dirty="0"/>
              <a:t>fully connected layer.</a:t>
            </a:r>
          </a:p>
        </p:txBody>
      </p:sp>
      <p:sp>
        <p:nvSpPr>
          <p:cNvPr id="11" name="TextBox 10">
            <a:extLst>
              <a:ext uri="{FF2B5EF4-FFF2-40B4-BE49-F238E27FC236}">
                <a16:creationId xmlns:a16="http://schemas.microsoft.com/office/drawing/2014/main" id="{C5AF08BA-96FD-DE9A-44AE-430A81471C75}"/>
              </a:ext>
            </a:extLst>
          </p:cNvPr>
          <p:cNvSpPr txBox="1"/>
          <p:nvPr/>
        </p:nvSpPr>
        <p:spPr>
          <a:xfrm>
            <a:off x="6676117" y="1903763"/>
            <a:ext cx="4365812" cy="2862322"/>
          </a:xfrm>
          <a:prstGeom prst="rect">
            <a:avLst/>
          </a:prstGeom>
          <a:noFill/>
        </p:spPr>
        <p:txBody>
          <a:bodyPr wrap="square">
            <a:spAutoFit/>
          </a:bodyPr>
          <a:lstStyle/>
          <a:p>
            <a:pPr marL="285750" indent="-285750">
              <a:buFont typeface="Arial" panose="020B0604020202020204" pitchFamily="34" charset="0"/>
              <a:buChar char="•"/>
            </a:pPr>
            <a:r>
              <a:rPr lang="en-IN" dirty="0"/>
              <a:t>VGG16 </a:t>
            </a:r>
            <a:r>
              <a:rPr lang="en-US" dirty="0"/>
              <a:t>is a 16-layer deep neural network</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VGG16 is thus a relatively extensive network with a total of 138 million parameters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It also has 3 layers:</a:t>
            </a:r>
          </a:p>
          <a:p>
            <a:pPr marL="742950" lvl="1" indent="-285750">
              <a:buFont typeface="Arial" panose="020B0604020202020204" pitchFamily="34" charset="0"/>
              <a:buChar char="•"/>
            </a:pPr>
            <a:r>
              <a:rPr lang="en-IN" dirty="0"/>
              <a:t>a convolutional layer, </a:t>
            </a:r>
          </a:p>
          <a:p>
            <a:pPr marL="742950" lvl="1" indent="-285750">
              <a:buFont typeface="Arial" panose="020B0604020202020204" pitchFamily="34" charset="0"/>
              <a:buChar char="•"/>
            </a:pPr>
            <a:r>
              <a:rPr lang="en-IN" dirty="0"/>
              <a:t>pooling layer and a </a:t>
            </a:r>
          </a:p>
          <a:p>
            <a:pPr marL="742950" lvl="1" indent="-285750">
              <a:buFont typeface="Arial" panose="020B0604020202020204" pitchFamily="34" charset="0"/>
              <a:buChar char="•"/>
            </a:pPr>
            <a:r>
              <a:rPr lang="en-IN" dirty="0"/>
              <a:t>fully connected layer.</a:t>
            </a:r>
          </a:p>
        </p:txBody>
      </p:sp>
    </p:spTree>
    <p:extLst>
      <p:ext uri="{BB962C8B-B14F-4D97-AF65-F5344CB8AC3E}">
        <p14:creationId xmlns:p14="http://schemas.microsoft.com/office/powerpoint/2010/main" val="840108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2FACF-9B4A-DC27-3C42-36DB93F16DA2}"/>
              </a:ext>
            </a:extLst>
          </p:cNvPr>
          <p:cNvSpPr txBox="1">
            <a:spLocks/>
          </p:cNvSpPr>
          <p:nvPr/>
        </p:nvSpPr>
        <p:spPr>
          <a:xfrm>
            <a:off x="965200" y="2606808"/>
            <a:ext cx="3210560" cy="190423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3600" dirty="0">
                <a:solidFill>
                  <a:srgbClr val="FF0000"/>
                </a:solidFill>
                <a:latin typeface="HP Simplified" panose="020B0604020204020204" pitchFamily="34" charset="0"/>
              </a:rPr>
              <a:t>FPN</a:t>
            </a:r>
            <a:r>
              <a:rPr lang="en-US" sz="3600" dirty="0">
                <a:latin typeface="HP Simplified" panose="020B0604020204020204" pitchFamily="34" charset="0"/>
              </a:rPr>
              <a:t> Architecture</a:t>
            </a:r>
            <a:endParaRPr lang="en-IN" sz="3600" dirty="0">
              <a:latin typeface="HP Simplified" panose="020B0604020204020204" pitchFamily="34" charset="0"/>
            </a:endParaRPr>
          </a:p>
        </p:txBody>
      </p:sp>
      <p:pic>
        <p:nvPicPr>
          <p:cNvPr id="5" name="Picture 4">
            <a:extLst>
              <a:ext uri="{FF2B5EF4-FFF2-40B4-BE49-F238E27FC236}">
                <a16:creationId xmlns:a16="http://schemas.microsoft.com/office/drawing/2014/main" id="{BE30DC4B-6D90-BEC9-ACA3-B59BD8EF02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5760" y="44973"/>
            <a:ext cx="6375927" cy="6714265"/>
          </a:xfrm>
          <a:prstGeom prst="rect">
            <a:avLst/>
          </a:prstGeom>
        </p:spPr>
      </p:pic>
    </p:spTree>
    <p:extLst>
      <p:ext uri="{BB962C8B-B14F-4D97-AF65-F5344CB8AC3E}">
        <p14:creationId xmlns:p14="http://schemas.microsoft.com/office/powerpoint/2010/main" val="2591976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CA050-8614-204D-99A0-800618140860}"/>
              </a:ext>
            </a:extLst>
          </p:cNvPr>
          <p:cNvSpPr txBox="1">
            <a:spLocks/>
          </p:cNvSpPr>
          <p:nvPr/>
        </p:nvSpPr>
        <p:spPr>
          <a:xfrm>
            <a:off x="853440" y="2672187"/>
            <a:ext cx="3810000" cy="508606"/>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3600" dirty="0">
                <a:solidFill>
                  <a:srgbClr val="FF0000"/>
                </a:solidFill>
                <a:latin typeface="HP Simplified" panose="020B0604020204020204" pitchFamily="34" charset="0"/>
              </a:rPr>
              <a:t>VGG16+FPN</a:t>
            </a:r>
            <a:endParaRPr lang="en-IN" sz="3600" dirty="0">
              <a:solidFill>
                <a:srgbClr val="FF0000"/>
              </a:solidFill>
              <a:latin typeface="HP Simplified" panose="020B0604020204020204" pitchFamily="34" charset="0"/>
            </a:endParaRPr>
          </a:p>
        </p:txBody>
      </p:sp>
      <p:pic>
        <p:nvPicPr>
          <p:cNvPr id="5" name="Picture 4">
            <a:extLst>
              <a:ext uri="{FF2B5EF4-FFF2-40B4-BE49-F238E27FC236}">
                <a16:creationId xmlns:a16="http://schemas.microsoft.com/office/drawing/2014/main" id="{62D76FC0-1CBB-D459-1139-4258B928C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7241" y="49305"/>
            <a:ext cx="6142642" cy="6705600"/>
          </a:xfrm>
          <a:prstGeom prst="rect">
            <a:avLst/>
          </a:prstGeom>
        </p:spPr>
      </p:pic>
    </p:spTree>
    <p:extLst>
      <p:ext uri="{BB962C8B-B14F-4D97-AF65-F5344CB8AC3E}">
        <p14:creationId xmlns:p14="http://schemas.microsoft.com/office/powerpoint/2010/main" val="1486099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bright="70000" contrast="-70000"/>
            <a:extLst>
              <a:ext uri="{BEBA8EAE-BF5A-486C-A8C5-ECC9F3942E4B}">
                <a14:imgProps xmlns:a14="http://schemas.microsoft.com/office/drawing/2010/main">
                  <a14:imgLayer r:embed="rId3">
                    <a14:imgEffect>
                      <a14:saturation sat="33000"/>
                    </a14:imgEffect>
                  </a14:imgLayer>
                </a14:imgProps>
              </a:ext>
            </a:extLst>
          </a:blip>
          <a:srcRect/>
          <a:stretch>
            <a:fillRect t="-5000" b="-5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01807-C987-C0F4-C9A8-61EA986BACAA}"/>
              </a:ext>
            </a:extLst>
          </p:cNvPr>
          <p:cNvSpPr txBox="1">
            <a:spLocks/>
          </p:cNvSpPr>
          <p:nvPr/>
        </p:nvSpPr>
        <p:spPr>
          <a:xfrm>
            <a:off x="849983" y="526584"/>
            <a:ext cx="10058400" cy="74845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400" u="sng" dirty="0">
                <a:latin typeface="HP Simplified" panose="020B0604020204020204" pitchFamily="34" charset="0"/>
              </a:rPr>
              <a:t>Results</a:t>
            </a:r>
          </a:p>
        </p:txBody>
      </p:sp>
      <p:sp>
        <p:nvSpPr>
          <p:cNvPr id="4" name="TextBox 3">
            <a:extLst>
              <a:ext uri="{FF2B5EF4-FFF2-40B4-BE49-F238E27FC236}">
                <a16:creationId xmlns:a16="http://schemas.microsoft.com/office/drawing/2014/main" id="{FC795AD6-AE5C-8B52-AF72-82C1F9EE5AB6}"/>
              </a:ext>
            </a:extLst>
          </p:cNvPr>
          <p:cNvSpPr txBox="1"/>
          <p:nvPr/>
        </p:nvSpPr>
        <p:spPr>
          <a:xfrm>
            <a:off x="1189741" y="1372463"/>
            <a:ext cx="9812518"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The deep learning models which were proposed in the paper were trained using the Google </a:t>
            </a:r>
            <a:r>
              <a:rPr lang="en-US" dirty="0" err="1"/>
              <a:t>Colab</a:t>
            </a:r>
            <a:r>
              <a:rPr lang="en-US" dirty="0"/>
              <a:t> Environment.</a:t>
            </a:r>
          </a:p>
          <a:p>
            <a:pPr marL="285750" indent="-285750" algn="just">
              <a:buFont typeface="Arial" panose="020B0604020202020204" pitchFamily="34" charset="0"/>
              <a:buChar char="•"/>
            </a:pPr>
            <a:r>
              <a:rPr lang="en-US" dirty="0"/>
              <a:t>Every model was trained for 100 epochs with 8 as batch size.</a:t>
            </a:r>
          </a:p>
          <a:p>
            <a:pPr marL="285750" indent="-285750" algn="just">
              <a:buFont typeface="Arial" panose="020B0604020202020204" pitchFamily="34" charset="0"/>
              <a:buChar char="•"/>
            </a:pPr>
            <a:r>
              <a:rPr lang="en-US" dirty="0"/>
              <a:t>The results of CNN, VGG, FPN and VGG with FPN</a:t>
            </a:r>
            <a:endParaRPr lang="en-IN" dirty="0"/>
          </a:p>
        </p:txBody>
      </p:sp>
      <p:pic>
        <p:nvPicPr>
          <p:cNvPr id="5" name="Picture 4">
            <a:extLst>
              <a:ext uri="{FF2B5EF4-FFF2-40B4-BE49-F238E27FC236}">
                <a16:creationId xmlns:a16="http://schemas.microsoft.com/office/drawing/2014/main" id="{8927E671-B02C-6C63-A8AA-6154CD9B36E0}"/>
              </a:ext>
            </a:extLst>
          </p:cNvPr>
          <p:cNvPicPr>
            <a:picLocks noChangeAspect="1"/>
          </p:cNvPicPr>
          <p:nvPr/>
        </p:nvPicPr>
        <p:blipFill>
          <a:blip r:embed="rId4"/>
          <a:stretch>
            <a:fillRect/>
          </a:stretch>
        </p:blipFill>
        <p:spPr>
          <a:xfrm>
            <a:off x="2374689" y="2831663"/>
            <a:ext cx="6728671" cy="1392139"/>
          </a:xfrm>
          <a:prstGeom prst="rect">
            <a:avLst/>
          </a:prstGeom>
        </p:spPr>
      </p:pic>
      <p:pic>
        <p:nvPicPr>
          <p:cNvPr id="9" name="Picture 8">
            <a:extLst>
              <a:ext uri="{FF2B5EF4-FFF2-40B4-BE49-F238E27FC236}">
                <a16:creationId xmlns:a16="http://schemas.microsoft.com/office/drawing/2014/main" id="{AB7B9DC3-50AB-97FB-6AE2-4DAE81A19E3B}"/>
              </a:ext>
            </a:extLst>
          </p:cNvPr>
          <p:cNvPicPr>
            <a:picLocks noChangeAspect="1"/>
          </p:cNvPicPr>
          <p:nvPr/>
        </p:nvPicPr>
        <p:blipFill>
          <a:blip r:embed="rId5"/>
          <a:stretch>
            <a:fillRect/>
          </a:stretch>
        </p:blipFill>
        <p:spPr>
          <a:xfrm>
            <a:off x="2374689" y="4648157"/>
            <a:ext cx="6639142" cy="1392139"/>
          </a:xfrm>
          <a:prstGeom prst="rect">
            <a:avLst/>
          </a:prstGeom>
        </p:spPr>
      </p:pic>
    </p:spTree>
    <p:extLst>
      <p:ext uri="{BB962C8B-B14F-4D97-AF65-F5344CB8AC3E}">
        <p14:creationId xmlns:p14="http://schemas.microsoft.com/office/powerpoint/2010/main" val="1770196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bright="70000" contrast="-70000"/>
            <a:extLst>
              <a:ext uri="{BEBA8EAE-BF5A-486C-A8C5-ECC9F3942E4B}">
                <a14:imgProps xmlns:a14="http://schemas.microsoft.com/office/drawing/2010/main">
                  <a14:imgLayer r:embed="rId3">
                    <a14:imgEffect>
                      <a14:saturation sat="40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A2F37-2E36-F3BB-F92B-E8704F822DEB}"/>
              </a:ext>
            </a:extLst>
          </p:cNvPr>
          <p:cNvSpPr txBox="1">
            <a:spLocks/>
          </p:cNvSpPr>
          <p:nvPr/>
        </p:nvSpPr>
        <p:spPr>
          <a:xfrm>
            <a:off x="849983" y="526584"/>
            <a:ext cx="10058400" cy="56904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u="sng" dirty="0">
                <a:latin typeface="HP Simplified" panose="020B0604020204020204" pitchFamily="34" charset="0"/>
              </a:rPr>
              <a:t>Conclusion and future scope </a:t>
            </a:r>
          </a:p>
        </p:txBody>
      </p:sp>
      <p:sp>
        <p:nvSpPr>
          <p:cNvPr id="4" name="TextBox 3">
            <a:extLst>
              <a:ext uri="{FF2B5EF4-FFF2-40B4-BE49-F238E27FC236}">
                <a16:creationId xmlns:a16="http://schemas.microsoft.com/office/drawing/2014/main" id="{6AB094FD-73CA-2AC7-9561-4B1814ACC233}"/>
              </a:ext>
            </a:extLst>
          </p:cNvPr>
          <p:cNvSpPr txBox="1"/>
          <p:nvPr/>
        </p:nvSpPr>
        <p:spPr>
          <a:xfrm>
            <a:off x="1102306" y="1682122"/>
            <a:ext cx="10132244" cy="4247317"/>
          </a:xfrm>
          <a:prstGeom prst="rect">
            <a:avLst/>
          </a:prstGeom>
          <a:noFill/>
        </p:spPr>
        <p:txBody>
          <a:bodyPr wrap="square">
            <a:spAutoFit/>
          </a:bodyPr>
          <a:lstStyle/>
          <a:p>
            <a:pPr marL="285750" indent="-285750" algn="just">
              <a:buFont typeface="Arial" panose="020B0604020202020204" pitchFamily="34" charset="0"/>
              <a:buChar char="•"/>
            </a:pPr>
            <a:r>
              <a:rPr lang="en-US" dirty="0"/>
              <a:t>In recent years deep learning acquired a major position in healthcare sector.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Our work focused on identifying whether a child is diagnosed with ASD or not. We have considered CNN, VGG16, FPN and VGG16+FPN models for our work.</a:t>
            </a:r>
          </a:p>
          <a:p>
            <a:pPr algn="just"/>
            <a:r>
              <a:rPr lang="en-US" dirty="0"/>
              <a:t> </a:t>
            </a:r>
          </a:p>
          <a:p>
            <a:pPr marL="285750" indent="-285750" algn="just">
              <a:buFont typeface="Arial" panose="020B0604020202020204" pitchFamily="34" charset="0"/>
              <a:buChar char="•"/>
            </a:pPr>
            <a:r>
              <a:rPr lang="en-US" dirty="0"/>
              <a:t>Amongst the four models, VGG16+FPN, a transfer learning based approached achieved highest accuracy of 92%.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FPN+CNN and VGG16 has improved the performance which demonstrates the importance of feature extraction in deep-learning models.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As there is an advancement in technology, the future scope can considering  ECG, Speech recognition, 23 behavioral, and iris data along with the facial image dataset to acquire better results with improved accuracy for the early prediction of the autism spectrum disorder within infants to reduce the effect.</a:t>
            </a:r>
          </a:p>
          <a:p>
            <a:pPr marL="285750" indent="-285750" algn="just">
              <a:buFont typeface="Arial" panose="020B0604020202020204" pitchFamily="34" charset="0"/>
              <a:buChar char="•"/>
            </a:pPr>
            <a:endParaRPr lang="en-IN" dirty="0"/>
          </a:p>
        </p:txBody>
      </p:sp>
    </p:spTree>
    <p:extLst>
      <p:ext uri="{BB962C8B-B14F-4D97-AF65-F5344CB8AC3E}">
        <p14:creationId xmlns:p14="http://schemas.microsoft.com/office/powerpoint/2010/main" val="796121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FC4CD-A542-4EA8-A701-9C2CE7A93B38}"/>
              </a:ext>
            </a:extLst>
          </p:cNvPr>
          <p:cNvSpPr txBox="1">
            <a:spLocks/>
          </p:cNvSpPr>
          <p:nvPr/>
        </p:nvSpPr>
        <p:spPr>
          <a:xfrm>
            <a:off x="849983" y="526584"/>
            <a:ext cx="10058400" cy="56904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000" u="sng" dirty="0">
                <a:latin typeface="HP Simplified" panose="020B0604020204020204" pitchFamily="34" charset="0"/>
              </a:rPr>
              <a:t>References</a:t>
            </a:r>
          </a:p>
        </p:txBody>
      </p:sp>
      <p:sp>
        <p:nvSpPr>
          <p:cNvPr id="4" name="TextBox 3">
            <a:extLst>
              <a:ext uri="{FF2B5EF4-FFF2-40B4-BE49-F238E27FC236}">
                <a16:creationId xmlns:a16="http://schemas.microsoft.com/office/drawing/2014/main" id="{0204E6C3-4EE4-950B-64C3-D81A937453E3}"/>
              </a:ext>
            </a:extLst>
          </p:cNvPr>
          <p:cNvSpPr txBox="1"/>
          <p:nvPr/>
        </p:nvSpPr>
        <p:spPr>
          <a:xfrm>
            <a:off x="1264023" y="1788930"/>
            <a:ext cx="9798424" cy="2862322"/>
          </a:xfrm>
          <a:prstGeom prst="rect">
            <a:avLst/>
          </a:prstGeom>
          <a:noFill/>
        </p:spPr>
        <p:txBody>
          <a:bodyPr wrap="square">
            <a:spAutoFit/>
          </a:bodyPr>
          <a:lstStyle/>
          <a:p>
            <a:pPr marL="342900" indent="-342900" algn="just">
              <a:buFont typeface="+mj-lt"/>
              <a:buAutoNum type="arabicPeriod"/>
            </a:pPr>
            <a:r>
              <a:rPr lang="en-US" b="0" i="0" dirty="0">
                <a:solidFill>
                  <a:srgbClr val="222222"/>
                </a:solidFill>
                <a:effectLst/>
              </a:rPr>
              <a:t>Harris, J. (2018). Leo </a:t>
            </a:r>
            <a:r>
              <a:rPr lang="en-US" b="0" i="0" dirty="0" err="1">
                <a:solidFill>
                  <a:srgbClr val="222222"/>
                </a:solidFill>
                <a:effectLst/>
              </a:rPr>
              <a:t>Kanner</a:t>
            </a:r>
            <a:r>
              <a:rPr lang="en-US" b="0" i="0" dirty="0">
                <a:solidFill>
                  <a:srgbClr val="222222"/>
                </a:solidFill>
                <a:effectLst/>
              </a:rPr>
              <a:t> and autism: a 75-year perspective. </a:t>
            </a:r>
            <a:r>
              <a:rPr lang="en-US" b="0" i="1" dirty="0">
                <a:solidFill>
                  <a:srgbClr val="222222"/>
                </a:solidFill>
                <a:effectLst/>
              </a:rPr>
              <a:t>International review of psychiatry</a:t>
            </a:r>
            <a:r>
              <a:rPr lang="en-US" b="0" i="0" dirty="0">
                <a:solidFill>
                  <a:srgbClr val="222222"/>
                </a:solidFill>
                <a:effectLst/>
              </a:rPr>
              <a:t>, </a:t>
            </a:r>
            <a:r>
              <a:rPr lang="en-US" b="0" i="1" dirty="0">
                <a:solidFill>
                  <a:srgbClr val="222222"/>
                </a:solidFill>
                <a:effectLst/>
              </a:rPr>
              <a:t>30</a:t>
            </a:r>
            <a:r>
              <a:rPr lang="en-US" b="0" i="0" dirty="0">
                <a:solidFill>
                  <a:srgbClr val="222222"/>
                </a:solidFill>
                <a:effectLst/>
              </a:rPr>
              <a:t>(1), 3-17.</a:t>
            </a:r>
          </a:p>
          <a:p>
            <a:pPr marL="342900" indent="-342900" algn="just">
              <a:buFont typeface="+mj-lt"/>
              <a:buAutoNum type="arabicPeriod"/>
            </a:pPr>
            <a:endParaRPr lang="en-US" dirty="0">
              <a:solidFill>
                <a:srgbClr val="212121"/>
              </a:solidFill>
            </a:endParaRPr>
          </a:p>
          <a:p>
            <a:pPr marL="342900" indent="-342900" algn="just">
              <a:buFont typeface="+mj-lt"/>
              <a:buAutoNum type="arabicPeriod"/>
            </a:pPr>
            <a:r>
              <a:rPr lang="en-US" b="0" i="0" dirty="0">
                <a:solidFill>
                  <a:srgbClr val="222222"/>
                </a:solidFill>
                <a:effectLst/>
              </a:rPr>
              <a:t>Mazumdar, P., </a:t>
            </a:r>
            <a:r>
              <a:rPr lang="en-US" b="0" i="0" dirty="0" err="1">
                <a:solidFill>
                  <a:srgbClr val="222222"/>
                </a:solidFill>
                <a:effectLst/>
              </a:rPr>
              <a:t>Arru</a:t>
            </a:r>
            <a:r>
              <a:rPr lang="en-US" b="0" i="0" dirty="0">
                <a:solidFill>
                  <a:srgbClr val="222222"/>
                </a:solidFill>
                <a:effectLst/>
              </a:rPr>
              <a:t>, G., &amp; Battisti, F. (2021). Early detection of children with autism spectrum disorder based on visual exploration of images. </a:t>
            </a:r>
            <a:r>
              <a:rPr lang="en-US" b="0" i="1" dirty="0">
                <a:solidFill>
                  <a:srgbClr val="222222"/>
                </a:solidFill>
                <a:effectLst/>
              </a:rPr>
              <a:t>Signal Processing: Image Communication</a:t>
            </a:r>
            <a:r>
              <a:rPr lang="en-US" b="0" i="0" dirty="0">
                <a:solidFill>
                  <a:srgbClr val="222222"/>
                </a:solidFill>
                <a:effectLst/>
              </a:rPr>
              <a:t>, </a:t>
            </a:r>
            <a:r>
              <a:rPr lang="en-US" b="0" i="1" dirty="0">
                <a:solidFill>
                  <a:srgbClr val="222222"/>
                </a:solidFill>
                <a:effectLst/>
              </a:rPr>
              <a:t>94</a:t>
            </a:r>
            <a:r>
              <a:rPr lang="en-US" b="0" i="0" dirty="0">
                <a:solidFill>
                  <a:srgbClr val="222222"/>
                </a:solidFill>
                <a:effectLst/>
              </a:rPr>
              <a:t>, 116184.</a:t>
            </a:r>
          </a:p>
          <a:p>
            <a:pPr marL="342900" indent="-342900" algn="just">
              <a:buFont typeface="+mj-lt"/>
              <a:buAutoNum type="arabicPeriod"/>
            </a:pPr>
            <a:endParaRPr lang="en-US" dirty="0">
              <a:solidFill>
                <a:srgbClr val="222222"/>
              </a:solidFill>
            </a:endParaRPr>
          </a:p>
          <a:p>
            <a:pPr marL="342900" indent="-342900" algn="just">
              <a:buFont typeface="+mj-lt"/>
              <a:buAutoNum type="arabicPeriod"/>
            </a:pPr>
            <a:r>
              <a:rPr lang="en-US" b="0" i="0" dirty="0">
                <a:solidFill>
                  <a:srgbClr val="222222"/>
                </a:solidFill>
                <a:effectLst/>
              </a:rPr>
              <a:t>Lin, T. Y., </a:t>
            </a:r>
            <a:r>
              <a:rPr lang="en-US" b="0" i="0" dirty="0" err="1">
                <a:solidFill>
                  <a:srgbClr val="222222"/>
                </a:solidFill>
                <a:effectLst/>
              </a:rPr>
              <a:t>Dollár</a:t>
            </a:r>
            <a:r>
              <a:rPr lang="en-US" b="0" i="0" dirty="0">
                <a:solidFill>
                  <a:srgbClr val="222222"/>
                </a:solidFill>
                <a:effectLst/>
              </a:rPr>
              <a:t>, P., </a:t>
            </a:r>
            <a:r>
              <a:rPr lang="en-US" b="0" i="0" dirty="0" err="1">
                <a:solidFill>
                  <a:srgbClr val="222222"/>
                </a:solidFill>
                <a:effectLst/>
              </a:rPr>
              <a:t>Girshick</a:t>
            </a:r>
            <a:r>
              <a:rPr lang="en-US" b="0" i="0" dirty="0">
                <a:solidFill>
                  <a:srgbClr val="222222"/>
                </a:solidFill>
                <a:effectLst/>
              </a:rPr>
              <a:t>, R., He, K., Hariharan, B., &amp; </a:t>
            </a:r>
            <a:r>
              <a:rPr lang="en-US" b="0" i="0" dirty="0" err="1">
                <a:solidFill>
                  <a:srgbClr val="222222"/>
                </a:solidFill>
                <a:effectLst/>
              </a:rPr>
              <a:t>Belongie</a:t>
            </a:r>
            <a:r>
              <a:rPr lang="en-US" b="0" i="0" dirty="0">
                <a:solidFill>
                  <a:srgbClr val="222222"/>
                </a:solidFill>
                <a:effectLst/>
              </a:rPr>
              <a:t>, S. (2017). Feature pyramid networks for object detection. In </a:t>
            </a:r>
            <a:r>
              <a:rPr lang="en-US" b="0" i="1" dirty="0">
                <a:solidFill>
                  <a:srgbClr val="222222"/>
                </a:solidFill>
                <a:effectLst/>
              </a:rPr>
              <a:t>Proceedings of the IEEE conference on computer vision and pattern recognition</a:t>
            </a:r>
            <a:r>
              <a:rPr lang="en-US" b="0" i="0" dirty="0">
                <a:solidFill>
                  <a:srgbClr val="222222"/>
                </a:solidFill>
                <a:effectLst/>
              </a:rPr>
              <a:t> (pp. 2117-2125).</a:t>
            </a:r>
            <a:endParaRPr lang="en-IN" dirty="0"/>
          </a:p>
        </p:txBody>
      </p:sp>
    </p:spTree>
    <p:extLst>
      <p:ext uri="{BB962C8B-B14F-4D97-AF65-F5344CB8AC3E}">
        <p14:creationId xmlns:p14="http://schemas.microsoft.com/office/powerpoint/2010/main" val="1572312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25000" b="-25000"/>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50189F-4484-A6B1-AF31-FA04FD78AF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4288" y="1160232"/>
            <a:ext cx="4562623" cy="3893320"/>
          </a:xfrm>
          <a:prstGeom prst="rect">
            <a:avLst/>
          </a:prstGeom>
        </p:spPr>
      </p:pic>
    </p:spTree>
    <p:extLst>
      <p:ext uri="{BB962C8B-B14F-4D97-AF65-F5344CB8AC3E}">
        <p14:creationId xmlns:p14="http://schemas.microsoft.com/office/powerpoint/2010/main" val="382268230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1461</TotalTime>
  <Words>1001</Words>
  <Application>Microsoft Office PowerPoint</Application>
  <PresentationFormat>Widescreen</PresentationFormat>
  <Paragraphs>96</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CMR12</vt:lpstr>
      <vt:lpstr>HP Simplified</vt:lpstr>
      <vt:lpstr>NimbusSanL-Regu</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Yasaswini Desu</dc:creator>
  <cp:lastModifiedBy>saieesha1803@gmail.com</cp:lastModifiedBy>
  <cp:revision>71</cp:revision>
  <dcterms:created xsi:type="dcterms:W3CDTF">2023-05-19T05:00:36Z</dcterms:created>
  <dcterms:modified xsi:type="dcterms:W3CDTF">2023-11-04T07:36:16Z</dcterms:modified>
</cp:coreProperties>
</file>